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NutriMatch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CCDD"/>
                </a:solidFill>
              </a:defRPr>
            </a:pPr>
            <a:r>
              <a:t>A Hybrid Recipe Recommendation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99AA"/>
                </a:solidFill>
              </a:defRPr>
            </a:pPr>
            <a:r>
              <a:t>with Dietary Constraints and Explainable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</a:defRPr>
            </a:pPr>
            <a:r>
              <a:t>CS 513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1.   Problem &amp; Motivation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2.   Dataset &amp; Preprocessing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3.   Exploratory Data Analysis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4.   Methodology: Three Parallel Approaches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5.   Version A: Content-Based Recommendation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6.   Version B: Collaborative Filtering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7.   Version C: Hybrid Recommendation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8.   Cross-Version Comparison &amp; Analysis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9.   Key Findings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10.  Practical Implications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11. 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The Challenge: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Recipe discovery is harder than generic search because users have multiple constraints: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taste preferences, available ingredients, cooking time, nutrition goals, dietary restrictions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Why existing approaches fall short: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Popularity-based: ignores personal preferences entirely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Content-based: can't capture 'people like you also liked...' patterns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Collaborative filtering: fails for new users or items with no history (cold start)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Our Research Questions: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Q1. How much does collaborative filtering improve over a popularity baseline?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Q2. How much do metadata features help for sparse users and items?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Q3. Can a hybrid recommender balance precision, coverage, and practicality?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Dataset: Food.com Recipes &amp; Reviews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91440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Raw Data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 Cleaning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CF Subset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Recipes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231,637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230,543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39,844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Interactions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1,132,367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1,067,281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533,018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195,468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16,973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Sparsity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99.92%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Train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507,043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Test 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10,069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Features: explicit ratings, ingredients, tags, nutrition, prep time, timestamps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Temporal split: each user's last interaction held out for evaluation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CF subset: users and recipes with &gt;= 5 ratings each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Two data views: full metadata (content) + filtered interactions (CF)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This allows honest study of cold-start and sparsity, not just one preprocessing choice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EDA: Rating Distribution &amp; Submission Trends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Understanding the shape of the data before modeling</a:t>
            </a:r>
          </a:p>
        </p:txBody>
      </p:sp>
      <p:pic>
        <p:nvPicPr>
          <p:cNvPr id="3" name="Picture 2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recipe_submissio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Left: Ratings are heavily skewed toward 5 stars - most interactions are positive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This means binary positive/negative signal is more useful than fine-grained rating prediction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Right: Recipe submissions peaked around 2008-2010, then declined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Older recipes dominate the catalog; newer recipes may have less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EDA: Interaction Density &amp; Content Features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Identifying sparsity patterns and informative metadata</a:t>
            </a:r>
          </a:p>
        </p:txBody>
      </p:sp>
      <p:pic>
        <p:nvPicPr>
          <p:cNvPr id="3" name="Picture 2" descr="interaction_density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top_informative_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Left: Long-tail distribution - most users and recipes have very few interactions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This justifies the need for content features to supplement sparse interaction data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Right: Tags like cuisine type, dietary labels, and meal type are highly informative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These features power content-based and hybrid 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EDA: Recipe Metadata &amp; Feature Correlations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Examining the richness of recipe-level features</a:t>
            </a:r>
          </a:p>
        </p:txBody>
      </p:sp>
      <p:pic>
        <p:nvPicPr>
          <p:cNvPr id="3" name="Picture 2" descr="recipe_metadata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Left: Prep time, ingredient count, and step count vary widely across recipes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These features support practical filters (quick meals, simple recipes)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Right: Correlation heatmap shows nutrition features are moderately correlated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Ingredient count and step count correlate with complexity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EDA: Temporal Split &amp; User History Buckets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Setting up a realistic evaluation framework</a:t>
            </a:r>
          </a:p>
        </p:txBody>
      </p:sp>
      <p:pic>
        <p:nvPicPr>
          <p:cNvPr id="3" name="Picture 2" descr="temporal_spli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history_bucke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Left: Per-user temporal holdout - each user's last interaction is the test item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This respects chronological order, unlike random splits that cause data leakage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Right: Users grouped by history size - many users have minimal history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This motivates hybrid methods that handle sparse and rich users differently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EDA: Data Sparsity for Collaborative Filtering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Why sparsity is the fundamental challenge</a:t>
            </a:r>
          </a:p>
        </p:txBody>
      </p:sp>
      <p:pic>
        <p:nvPicPr>
          <p:cNvPr id="3" name="Picture 2" descr="bbd7a8feba91aa5b707f25ef43259d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5720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16,973 users x 39,844 recipes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533,018 interactions out of 676M possible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Density: 0.079%  |  Sparsity: 99.92%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Implications for modeling: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Pure CF can only work where history exists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Content features are needed for the 99.9% empty cells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This is the core motivation for hybrid approaches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Methodology: Three Parallel Approaches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Shared data foundation + independent modeling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5A868"/>
                </a:solidFill>
              </a:defRPr>
            </a:pPr>
            <a:r>
              <a:t>Version A: Content-Based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A0: Bayesian popularity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A2: TF-IDF item-to-item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A3: User-profile TF-IDF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A4: Content + popularity reranker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A5: SVD semantic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</a:defRPr>
            </a:pPr>
            <a:r>
              <a:t>Version B: Collaborative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202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B0: Bayesian popularity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B1: User-based kNN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B2: Item-based kNN (implicit)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B3: Item-based kNN (weighted)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B4: SVD matrix factorization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4E52"/>
                </a:solidFill>
              </a:defRPr>
            </a:pPr>
            <a:r>
              <a:t>Version C: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C0: SVD CF baseline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C1: TF-IDF content baseline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C2: Weighted hybrid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C3: Switching hybrid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C4: Reciprocal Rank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Shared Evaluation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Same temporal train/test split  |  Same positive threshold (rating &gt;= 4)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Metrics: Precision@10, Recall@10, NDCG@10, Catalog Coverage@10, Hit Rate@10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All models exclude training items from recommendations (no leakage)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A: Data Foundation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Understanding the data before building content models</a:t>
            </a:r>
          </a:p>
        </p:txBody>
      </p:sp>
      <p:pic>
        <p:nvPicPr>
          <p:cNvPr id="3" name="Picture 2" descr="version_a_primary_data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version_a_train_test_rat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pic>
        <p:nvPicPr>
          <p:cNvPr id="5" name="Picture 4" descr="version_a_eval_user_sel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23360"/>
            <a:ext cx="5760720" cy="2468880"/>
          </a:xfrm>
          <a:prstGeom prst="rect">
            <a:avLst/>
          </a:prstGeom>
        </p:spPr>
      </p:pic>
      <p:pic>
        <p:nvPicPr>
          <p:cNvPr id="6" name="Picture 5" descr="version_a_content_text_length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23360"/>
            <a:ext cx="56692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A: Content-Based Results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5 models evaluated on the filtered temporal split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7840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NDCG@10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Coverage@10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Sec/User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A0 Bayesian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0.0035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A2 TF-IDF item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0.00218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44.85%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A3 User-profile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0.058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A4 Content+Pop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0.00268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45.30%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A5 SVD semantic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59.51%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version_a_model_metrics_a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31920"/>
            <a:ext cx="5760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3931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A4 selected as Version A's best model: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Best NDCG among personalized models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45% coverage (vs 0.06% for popularity)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Lightweight: 0.06 sec/user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Key insight: content models trade precision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for much broader item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A: Hyperparameter Tuning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Finding optimal parameters for each content model</a:t>
            </a:r>
          </a:p>
        </p:txBody>
      </p:sp>
      <p:pic>
        <p:nvPicPr>
          <p:cNvPr id="3" name="Picture 2" descr="version_a_a0_popularity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version_a_a3_tfidf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pic>
        <p:nvPicPr>
          <p:cNvPr id="5" name="Picture 4" descr="version_a_a4_rerank_weight_tu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23360"/>
            <a:ext cx="5760720" cy="2468880"/>
          </a:xfrm>
          <a:prstGeom prst="rect">
            <a:avLst/>
          </a:prstGeom>
        </p:spPr>
      </p:pic>
      <p:pic>
        <p:nvPicPr>
          <p:cNvPr id="6" name="Picture 5" descr="version_a_a4_rerank_weight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23360"/>
            <a:ext cx="56692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A: Quality, Runtime &amp; Explainability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Content models offer interpretability that CF cannot</a:t>
            </a:r>
          </a:p>
        </p:txBody>
      </p:sp>
      <p:pic>
        <p:nvPicPr>
          <p:cNvPr id="3" name="Picture 2" descr="version_a_quality_vs_runtime_a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version_a_phase_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pic>
        <p:nvPicPr>
          <p:cNvPr id="5" name="Picture 4" descr="version_a_content_explanation_te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23360"/>
            <a:ext cx="5760720" cy="2468880"/>
          </a:xfrm>
          <a:prstGeom prst="rect">
            <a:avLst/>
          </a:prstGeom>
        </p:spPr>
      </p:pic>
      <p:pic>
        <p:nvPicPr>
          <p:cNvPr id="6" name="Picture 5" descr="version_a_constraint_demo_minu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23360"/>
            <a:ext cx="56692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A: Hit Distribution &amp; Recommendation Examples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Where content models succeed and where they struggle</a:t>
            </a:r>
          </a:p>
        </p:txBody>
      </p:sp>
      <p:pic>
        <p:nvPicPr>
          <p:cNvPr id="3" name="Picture 2" descr="version_a_hit_rank_distribution_a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version_a_sample_recommendation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pic>
        <p:nvPicPr>
          <p:cNvPr id="5" name="Picture 4" descr="version_a_top_bayesian_popularity_reci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23360"/>
            <a:ext cx="576072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02336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Hit rank distribution: A0 (popularity)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concentrates hits at rank 3 - when it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hits, it hits early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Content models hit more uniformly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across all 10 positions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Popularity baseline recommends the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same few recipes to everyone - hence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the 0.06% coverage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A: Summary &amp; Transition to Version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Version A established the content-based baseline: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Strengths: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High catalog coverage (45-60%) - recommends diverse recipes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Interpretable - can explain via shared ingredients, tags, nutrition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Handles cold-start users and items naturally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Supports practical filters (prep time, dietary constraints)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Weaknesses: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Low absolute NDCG (best = 0.00134) - not very accurate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Cannot capture collaborative signals ('people like you also liked...')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Question for Version B: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How much does adding user interaction patterns improve precision?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And what do we lose in return?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B: Collaborative Filtering Results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5 models using user-item interaction patterns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7840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NDCG@10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Coverage@10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Sec/User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B0 Popularity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0.000005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B1 User-kNN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0.01927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0.00984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15.38%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0.000614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B2 Item-kNN impl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0.003000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B3 Item-kNN wgt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0.00681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0.00387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54.50%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0.001521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B4 SVD (d=64)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0.02524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0.000896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B4 SVD is the clear winner: NDCG = 0.01309, roughly 10x better than A4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Matrix factorization captures latent user-item patterns that content features miss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But B4 coverage is only 3.26% - it recommends from a very narrow pool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Item-kNN models (B2/B3) have high coverage but poor precision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Answer to Q1: CF improves dramatically over the popularity baseline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B: Hyperparameter Tuning &amp; Analysis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SVD components and kNN neighbor count optimization</a:t>
            </a:r>
          </a:p>
        </p:txBody>
      </p:sp>
      <p:pic>
        <p:nvPicPr>
          <p:cNvPr id="3" name="Picture 2" descr="7ef17d3606b76bb0f9fc8ccd290cc0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994a688ad48fdc30fad7647e1f5439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pic>
        <p:nvPicPr>
          <p:cNvPr id="5" name="Picture 4" descr="ac95ca5407f4da29b1b34656d7ab20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23360"/>
            <a:ext cx="576072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02336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SVD tuning (top-left):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64 components is optimal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128 overfits, 32 underfits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kNN tuning (top-right):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User-kNN improves with more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neighbors; item-kNN is stable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Score distribution (bottom-left):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Clear ranking separation between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top-ranked and lower items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B: Summary &amp; Transition to Version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Version B demonstrated the power of collaborative filtering: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Strengths: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B4 SVD achieves NDCG 10x higher than best content model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Fast inference: &lt; 1ms per user recommendation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Captures real user preference patterns from interaction history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Weaknesses: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Very low catalog coverage (3.26%) - echo chamber risk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Cannot handle cold-start users or items with no history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Not interpretable - can't explain why a recipe was recommended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The natural next question: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Can we combine CF's precision with content's coverage?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This is exactly what Version C attempts with hybrid methods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C: Hybrid Recommendation Results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Combining the strengths of content and collaborative filtering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875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1371600"/>
                <a:gridCol w="13716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NDCG@10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Coverage@10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C0 SVD 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0.02524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Pure CF (baseline)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C1 TF-IDF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45.57%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Pure content (baseline)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C2 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17.31%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0.7*CF + 0.3*content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C3 Switching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0.01550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0.00788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40.63%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CF or content per user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C4 RRF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29.12%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Rank fusion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version_c_ndcg_v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31920"/>
            <a:ext cx="5760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3931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C2 Weighted Hybrid is the best trade-off: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NDCG = 0.01194 (only 9% below pure CF)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Coverage = 17.3% (5x better than pure CF)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C3 Switching: 41% coverage, adapts per user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CF for 57% of users, content for 43%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C4 RRF: 29% coverage, score-scale agnostic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C: Model Comparison Visualizations</a:t>
            </a:r>
          </a:p>
        </p:txBody>
      </p:sp>
      <p:pic>
        <p:nvPicPr>
          <p:cNvPr id="3" name="Picture 2" descr="version_c_model_metrics_a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version_c_catalog_coverage_a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pic>
        <p:nvPicPr>
          <p:cNvPr id="5" name="Picture 4" descr="version_c_hit_rate_at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23360"/>
            <a:ext cx="5760720" cy="2468880"/>
          </a:xfrm>
          <a:prstGeom prst="rect">
            <a:avLst/>
          </a:prstGeom>
        </p:spPr>
      </p:pic>
      <p:pic>
        <p:nvPicPr>
          <p:cNvPr id="6" name="Picture 5" descr="version_c_quality_vs_runtime_at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23360"/>
            <a:ext cx="56692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Version C: Runtime &amp; Per-User Distribution</a:t>
            </a:r>
          </a:p>
        </p:txBody>
      </p:sp>
      <p:pic>
        <p:nvPicPr>
          <p:cNvPr id="3" name="Picture 2" descr="version_c_phase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468880"/>
          </a:xfrm>
          <a:prstGeom prst="rect">
            <a:avLst/>
          </a:prstGeom>
        </p:spPr>
      </p:pic>
      <p:pic>
        <p:nvPicPr>
          <p:cNvPr id="4" name="Picture 3" descr="version_c_per_user_ndcg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C0 (pure SVD) is fastest: 8 seconds. C1/C2/C4 take ~10 min each (per-user cosine similarity)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C3 switching is faster (4.5 min): 57% of users skip the expensive content computation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Per-user boxplot: most users score 0 (extreme sparsity), but C0/C2 show higher upper-quartile hits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Runtime is acceptable for offline batch recommendation; online serving would need caching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Cross-Version Comparison: A vs B vs C</a:t>
            </a:r>
          </a:p>
          <a:p>
            <a:pPr>
              <a:defRPr sz="1800">
                <a:solidFill>
                  <a:srgbClr val="BBCCDD"/>
                </a:solidFill>
              </a:defRPr>
            </a:pPr>
            <a:r>
              <a:t>Which approach wins? It depends on what you optimize for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01498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1371600"/>
                <a:gridCol w="13716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NDCG@10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Recall@10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 (Content)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A4 Reranker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45.30%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Cold-start, explainability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 (CF)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B4 SVD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0.01309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0.02524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3.26%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Maximum precision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 (Hybrid)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C2 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17.31%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Balanced trade-off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cross_version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74720"/>
            <a:ext cx="5760720" cy="3200400"/>
          </a:xfrm>
          <a:prstGeom prst="rect">
            <a:avLst/>
          </a:prstGeom>
        </p:spPr>
      </p:pic>
      <p:pic>
        <p:nvPicPr>
          <p:cNvPr id="5" name="Picture 4" descr="cross_version_ndcg_vs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474720"/>
            <a:ext cx="56692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All Models Ranking &amp; Coverage Trade-off</a:t>
            </a:r>
          </a:p>
        </p:txBody>
      </p:sp>
      <p:pic>
        <p:nvPicPr>
          <p:cNvPr id="3" name="Picture 2" descr="all_models_ndc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5029200"/>
          </a:xfrm>
          <a:prstGeom prst="rect">
            <a:avLst/>
          </a:prstGeom>
        </p:spPr>
      </p:pic>
      <p:pic>
        <p:nvPicPr>
          <p:cNvPr id="4" name="Picture 3" descr="cross_version_coverag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4297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The precision-coverage trade-off is the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central design decision: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A: high coverage, low precision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B: high precision, low coverage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C: controllable balance between both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Finding 1: CF significantly outperforms content-based methods (10x NDCG improvement)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Interaction patterns are far more predictive than metadata similarity alone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Finding 2: Pure CF suffers from critically low coverage (3.26%)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It creates an echo chamber, recommending only well-known items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Finding 3: Hybrid methods successfully balance precision and coverage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C2: only 9% NDCG loss for 5x coverage gain. A strong real-world trade-off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Finding 4: Content-based methods are essential for cold-start scenarios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C3 switching hybrid uses content for 43% of users with sparse history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Finding 5: All metrics are low in absolute terms due to extreme sparsity (99.92%)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This is typical for large-scale recommendation; relative improvements matter more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Practical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For a real recipe recommendation application: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Homepage 'Top Picks for You' (precision-focused):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Use B4/C0 (SVD) for users with &gt;= 10 interactions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'Explore New Recipes' (diversity-focused):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Use C3/C4 hybrid for broader recipe diversity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New user onboarding (cold-start):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Use C1/A4 content-based until enough ratings are collected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Prompt users to rate 5-10 recipes to bootstrap CF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Dietary constraints (practical filters):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Apply post-filters for prep time, ingredients, nutrition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Content methods naturally support constraint-based filtering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Recommended default: C2 Weighted Hybrid (alpha=0.7)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Conclusion: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Best overall system: C2 Weighted Hybrid (alpha=0.7)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NDCG = 0.01194 (91% of pure CF), Coverage = 17.3% (5x pure CF)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Lightweight, interpretable, and practical for real deployment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Limitations: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Extreme sparsity limits absolute performance across all methods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Single temporal split; k-fold cross-validation would improve robustness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No deep learning models compared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Future Work: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Neural collaborative filtering (NCF) for better latent representations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LLM-based explanation layer ('We recommend this because...')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Online A/B testing to validate offline improvements with real users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Incorporate recipe images and cooking step sequences as features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BCCDD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</a:defRPr>
            </a:pPr>
            <a:r>
              <a:t>CS 513  |  NutriMatch  |  Hybrid Recipe Recommendation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